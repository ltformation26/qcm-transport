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728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protêt (faute de paiement ou faute d'acceptation) est un acte authentique dressé par un commissaire de justice (ex-huissier) attestant du refus de paiement d'une lettre de change ou d'un billet à 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01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« La part du lion ». Le droit de la consommation qualifie les clauses léonines de clauses abusives.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04}" type="slidenum">
              <a:rPr lang="fr-FR"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05}" type="slidenum">
              <a:rPr lang="fr-FR"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06}" type="slidenum">
              <a:rPr lang="fr-FR"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Cour de cassation rend des arrêts de rejet ou de cassation : elle ne rejuge pas l'affaire au second degré.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07}" type="slidenum">
              <a:rPr lang="fr-FR"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08}" type="slidenum">
              <a:rPr lang="fr-FR"/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Prescription d'un an pour l'action en avarie ou perte en transport national (art. L133-6 du Code de commerce).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09}" type="slidenum">
              <a:rPr lang="fr-FR"/>
              <a:t>7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L'employeur répond civilement des dommages causés aux tiers par son salarié dans l'exercice de ses fonctions.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10}" type="slidenum">
              <a:rPr lang="fr-FR"/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contrats types ont une valeur supplétive : ils ne s'appliquent automatiquement qu'en l'absence de contrat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11}" type="slidenum">
              <a:rPr lang="fr-FR"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décision d'affectation du résultat et de distribution des dividendes relève de la compétence exclusive de l'assemblée générale ordinaire (AGO).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12}" type="slidenum">
              <a:rPr lang="fr-FR"/>
              <a:t>10</a:t>
            </a:fld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CFE ne prend en compte que les biens immobiliers rattachés à l'entreprise (valeur locative cadastrale des bureaux, dépôts, parkings).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13}" type="slidenum">
              <a:rPr lang="fr-FR"/>
              <a:t>11</a:t>
            </a:fld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Vendredi 24 décembre : jour 1. Samedi 25 décembre (Noël, férié) : exclu. Dimanche 26 décembre : exclu. Lundi 27 décembre : jour 2. Mardi 28 décembre : jour 3 → le délai expire le mardi 28 décembre à 24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14}" type="slidenum">
              <a:rPr lang="fr-FR"/>
              <a:t>12</a:t>
            </a:fld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prestations annexes sont d'autres opérations : manutention complémentaire, emballage, stockage, encaissement,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15}" type="slidenum">
              <a:rPr lang="fr-FR"/>
              <a:t>13</a:t>
            </a:fld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Ou entre l'expéditeur, le destinataire, le commissionnaire et le voiturier.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16}" type="slidenum">
              <a:rPr lang="fr-FR"/>
              <a:t>14</a:t>
            </a:fld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17}" type="slidenum">
              <a:rPr lang="fr-FR"/>
              <a:t>15</a:t>
            </a:fld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licence communautaire est obligatoire pour tout transport public avec un véhicule dont le PTAC dépasse 3,5 tonnes.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18}" type="slidenum">
              <a:rPr lang="fr-FR"/>
              <a:t>16</a:t>
            </a:fld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19}" type="slidenum">
              <a:rPr lang="fr-FR"/>
              <a:t>17</a:t>
            </a:fld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poids maximum autorisé de l'ensemble est plafonné par le PTRA du tracteur, soit 38 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20}" type="slidenum">
              <a:rPr lang="fr-FR"/>
              <a:t>18</a:t>
            </a:fld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21}" type="slidenum">
              <a:rPr lang="fr-FR"/>
              <a:t>19</a:t>
            </a:fld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22}" type="slidenum">
              <a:rPr lang="fr-FR"/>
              <a:t>20</a:t>
            </a:fld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 France, l'interdiction générale de circulation du week-end (du samedi 22 h au dimanche 22 h) vise les véhicules de plus de 7,5 t de PTAC.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23}" type="slidenum">
              <a:rPr lang="fr-FR"/>
              <a:t>21</a:t>
            </a:fld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24}" type="slidenum">
              <a:rPr lang="fr-FR"/>
              <a:t>22</a:t>
            </a:fld>
            <a:endParaRPr 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parcours au sein de l'Union (Belgique, France, Espagne) est couvert par la licence communautaire. L'entrée et le passage au Maroc nécessitent en plus une autorisation bilatérale.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25}" type="slidenum">
              <a:rPr lang="fr-FR"/>
              <a:t>23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protêt est :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opération comptable qui permet de provisionner en vue du non-paiement d'une lettre de change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acte dressé par un commissaire de justice qui constate le retard apporté dans l'exécution d'un contrat</a:t>
            </a:r>
            <a:endParaRPr lang="en-US" sz="1700" dirty="0"/>
          </a:p>
        </p:txBody>
      </p:sp>
      <p:sp>
        <p:nvSpPr>
          <p:cNvPr id="9" name="base_chip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base_let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base_txt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acte dressé par un commissaire de justice à la demande du porteur d'un effet de commerce en cas de défaut de paiement de la part du tiré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proposition amiable de règlement d'un litige intervenu dans l'exécution d'un contrat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440740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440740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acte dressé par un commissaire de justice à la demande du porteur d'un effet de commerce en cas de défaut de paiement de la part du tiré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cadre d'une société commerciale, une clause léonine :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reconnue valable par le tribunal</a:t>
            </a:r>
            <a:endParaRPr lang="en-US" sz="1700" dirty="0"/>
          </a:p>
        </p:txBody>
      </p:sp>
      <p:sp>
        <p:nvSpPr>
          <p:cNvPr id="6" name="base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base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base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accorde des avantages excessifs à l'une des parties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résiliable à tout moment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couverte par la prescription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340156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34015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accorde des avantages excessifs à l'une des parties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Possède la personnalité morale :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société en participation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société de fait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l'entreprise individuelle</a:t>
            </a:r>
            <a:endParaRPr lang="en-US" sz="1700" dirty="0"/>
          </a:p>
        </p:txBody>
      </p:sp>
      <p:sp>
        <p:nvSpPr>
          <p:cNvPr id="12" name="base_chip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base_let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base_txt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société par actions simplifiée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541324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541324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société par actions simplifiée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paie son fournisseur par chèque. La dette est éteinte :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l'établissement du chèque</a:t>
            </a:r>
            <a:endParaRPr lang="en-US" sz="1700" dirty="0"/>
          </a:p>
        </p:txBody>
      </p:sp>
      <p:sp>
        <p:nvSpPr>
          <p:cNvPr id="6" name="base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base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base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 de l'encaissement du chèque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la remise au bénéficiaire du chèque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la transmission du chèque à la banque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340156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34015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 de l'encaissement du chèque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peut pas faire appel d'une décision de justice rendue par :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conseil de prud'hommes</a:t>
            </a:r>
            <a:endParaRPr lang="en-US" sz="1700" dirty="0"/>
          </a:p>
        </p:txBody>
      </p:sp>
      <p:sp>
        <p:nvSpPr>
          <p:cNvPr id="6" name="base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base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base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 de cassation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tribunal administratif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tribunal de commerce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340156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34015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 de cassation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membres d'un Groupement d'intérêt économique (GIE) :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sont responsables des dettes sociales qu'à concurrence de leurs apports en capital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sont pas responsables des dettes sociales lorsque le GIE est constitué sans capital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 responsables des dettes sociales en proportion de leur activité avec le GIE, que le GIE soit constitué avec ou sans capital</a:t>
            </a:r>
            <a:endParaRPr lang="en-US" sz="1700" dirty="0"/>
          </a:p>
        </p:txBody>
      </p:sp>
      <p:sp>
        <p:nvSpPr>
          <p:cNvPr id="12" name="base_chip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base_let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base_txt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 une responsabilité solidaire et indéfinie pour les dettes du GIE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541324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541324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 une responsabilité solidaire et indéfinie pour les dettes du GIE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transport national, un destinataire constate, le jour de la livraison, des avaries sur la marchandise. Dans les 3 jours, il prend des réserves. La durée de la prescription de son action est de :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</a:t>
            </a:r>
            <a:endParaRPr lang="en-US" sz="1700" dirty="0"/>
          </a:p>
        </p:txBody>
      </p:sp>
      <p:sp>
        <p:nvSpPr>
          <p:cNvPr id="6" name="base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base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base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ans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ans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340156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34015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à une faute de conduite involontaire, un conducteur salarié d'une entreprise de transport endommage le quai d'un destinataire avec son véhicule. La responsabilité civile de ce dommage incombe :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conducteur salarié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destinataire</a:t>
            </a:r>
            <a:endParaRPr lang="en-US" sz="1700" dirty="0"/>
          </a:p>
        </p:txBody>
      </p:sp>
      <p:sp>
        <p:nvSpPr>
          <p:cNvPr id="9" name="base_chip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base_let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base_txt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l'employeur du conducteur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l'expéditeur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440740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440740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l'employeur du conducteur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contrat écrit de transport routier :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doit respecter les principes posés par le contrat type</a:t>
            </a:r>
            <a:endParaRPr lang="en-US" sz="1700" dirty="0"/>
          </a:p>
        </p:txBody>
      </p:sp>
      <p:sp>
        <p:nvSpPr>
          <p:cNvPr id="6" name="base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base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base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comporter des clauses dérogatoires au contrat type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nul de droit s'il comporte des clauses contraires au contrat type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valable pour les seules clauses qui ne sont pas contraires au contrat type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340156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34015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comporter des clauses dérogatoires au contrat type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une société commerciale, le montant des dividendes distribués aux associés (ou actionnaires) est fixé par :</a:t>
            </a:r>
            <a:endParaRPr lang="en-US" sz="2400" dirty="0"/>
          </a:p>
        </p:txBody>
      </p:sp>
      <p:sp>
        <p:nvSpPr>
          <p:cNvPr id="3" name="base_chip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base_let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base_txt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l'assemblée générale des associés (ou actionnaires)</a:t>
            </a:r>
            <a:endParaRPr lang="en-US" sz="1700" dirty="0"/>
          </a:p>
        </p:txBody>
      </p:sp>
      <p:sp>
        <p:nvSpPr>
          <p:cNvPr id="6" name="Shape 1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2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dirigeants de la société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commissaire aux comptes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président du tribunal de commerce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239572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239572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l'assemblée générale des associés (ou actionnaires)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Cotisation Foncière des Entreprises (CFE), composante principale de la fiscalité locale payée par une entreprise de transport, est calculée sur la base de :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des salaires versés aux conducteurs</a:t>
            </a:r>
            <a:endParaRPr lang="en-US" sz="1700" dirty="0"/>
          </a:p>
        </p:txBody>
      </p:sp>
      <p:sp>
        <p:nvSpPr>
          <p:cNvPr id="6" name="base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base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base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locative des biens immobiliers utilisés par l'entreprise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des cotisations de formation professionnelle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d'achat des camions et tracteurs routiers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340156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34015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locative des biens immobiliers utilisés par l'entreprise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jeudi 23 décembre, un transporteur livre à M. Martin 6 cartons de 6 bouteilles de champagne. Lors de la livraison, M. Martin appose des réserves pour 3 bouteilles cassées. M. Martin devra notifier des réserves au transporteur au plus tard le :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27 décembre à 24 h</a:t>
            </a:r>
            <a:endParaRPr lang="en-US" sz="1700" dirty="0"/>
          </a:p>
        </p:txBody>
      </p:sp>
      <p:sp>
        <p:nvSpPr>
          <p:cNvPr id="6" name="base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base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base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mardi 28 décembre à 24 h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 29 décembre à 24 h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30 décembre à 24 h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340156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34015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mardi 28 décembre à 24 h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1er février 1995 précise que les prestations annexes au contrat de transport routier de marchandises pour compte d'autrui sont les prestations autres que :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celles effectivement accomplies par le transporteur et ses préposés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mise à disposition du véhicule et de son équipage pour les opérations de chargement et de déchargement</a:t>
            </a:r>
            <a:endParaRPr lang="en-US" sz="1700" dirty="0"/>
          </a:p>
        </p:txBody>
      </p:sp>
      <p:sp>
        <p:nvSpPr>
          <p:cNvPr id="9" name="base_chip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base_let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base_txt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conduite du véhicule, la préparation de celui-ci aux opérations de chargement et de déchargement et la mise en œuvre des matériels spécialisés attachés au véhicule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celles qui ont été adoptées par les cocontractants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440740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440740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conduite du véhicule, la préparation de celui-ci aux opérations de chargement et de déchargement et la mise en œuvre des matériels spécialisés attachés au véhicule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L'article L.132-8 du code de commerce spécifie notamment que la lettre de voiture forme un contrat entre l'expéditeur et :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donneur d'ordre et le commissionnaire de transport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destinataire et le donneur d'ordre</a:t>
            </a:r>
            <a:endParaRPr lang="en-US" sz="1700" dirty="0"/>
          </a:p>
        </p:txBody>
      </p:sp>
      <p:sp>
        <p:nvSpPr>
          <p:cNvPr id="9" name="base_chip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base_let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base_txt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voiturier, le destinataire et le commissionnaire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voiturier et le transitaire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440740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440740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voiturier, le destinataire et le commissionnaire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contrats types prévus par la loi d'orientation des transports intérieurs s'appliquent :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plein droit, même en cas de convention écrite entre les parties au contrat sur les matières mentionnées dans cette loi</a:t>
            </a:r>
            <a:endParaRPr lang="en-US" sz="1700" dirty="0"/>
          </a:p>
        </p:txBody>
      </p:sp>
      <p:sp>
        <p:nvSpPr>
          <p:cNvPr id="6" name="base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base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base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plein droit, à défaut de convention écrite entre les parties au contrat sur les matières mentionnées dans cette loi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manière facultative, à défaut de convention écrite entre les parties au contrat sur les matières mentionnées dans cette loi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manière facultative, en cas de convention écrite entre les parties au contrat ne portant pas sur les matières mentionnées dans cette loi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340156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34015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plein droit, à défaut de convention écrite entre les parties au contrat sur les matières mentionnées dans cette loi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effectuez un transport de marchandises générales au départ de Toulouse pour Lyon avec un véhicule de poids total autorisé en charge (PTAC) supérieur à 6 tonnes et une charge utile supérieure à 3,5 tonnes. Lors d'un contrôle, vous devez présenter comme titre administratif :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copie conforme de la licence intérieure</a:t>
            </a:r>
            <a:endParaRPr lang="en-US" sz="1700" dirty="0"/>
          </a:p>
        </p:txBody>
      </p:sp>
      <p:sp>
        <p:nvSpPr>
          <p:cNvPr id="6" name="base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base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base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copie conforme de la licence communautaire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lettre de voiture nationale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extrait de votre Kbis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340156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34015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copie conforme de la licence communautaire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définition, un train routier est un ensemble constitué :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véhicule à moteur auquel est attelée obligatoirement une remorque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véhicule à moteur auquel est attelée obligatoirement une semi-remorque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tracteur routier et d'une semi-remorque</a:t>
            </a:r>
            <a:endParaRPr lang="en-US" sz="1700" dirty="0"/>
          </a:p>
        </p:txBody>
      </p:sp>
      <p:sp>
        <p:nvSpPr>
          <p:cNvPr id="12" name="base_chip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base_let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base_txt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véhicule à moteur auquel est attelée une remorque ou une semi-remorque dont l'avant repose sur un avant-train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541324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541324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véhicule à moteur auquel est attelée une remorque ou une semi-remorque dont l'avant repose sur un avant-train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tracteur de 38 t de poids total roulant autorisé et de 7 t de poids à vide tracte une semi-remorque de 34 t de poids total autorisé en charge et de 6 t de poids à vide. Son poids maximum autorisé est de :</a:t>
            </a:r>
            <a:endParaRPr lang="en-US" sz="2000" dirty="0"/>
          </a:p>
        </p:txBody>
      </p:sp>
      <p:sp>
        <p:nvSpPr>
          <p:cNvPr id="3" name="base_chip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base_let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base_txt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t</a:t>
            </a:r>
            <a:endParaRPr lang="en-US" sz="1700" dirty="0"/>
          </a:p>
        </p:txBody>
      </p:sp>
      <p:sp>
        <p:nvSpPr>
          <p:cNvPr id="6" name="Shape 1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2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t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t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239572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239572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t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véhicule isolé dont le PTAC (poids total autorisé en charge) ou le PTRA (poids total roulant autorisé) est supérieur à 3,5 t et inférieur ou égal à 12 t est limité à :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km/h sur autoroute, 90 km/h sur route prioritaire, 100 km/h sur route à deux chaussées séparées par un terre-plein central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km/h sur autoroute, 80 km/h sur route prioritaire, 100 km/h sur route à deux chaussées séparées par un terre-plein central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km/h sur autoroute, 90 km/h sur route prioritaire, 100 km/h sur route à deux chaussées séparées par un terre-plein central</a:t>
            </a:r>
            <a:endParaRPr lang="en-US" sz="1700" dirty="0"/>
          </a:p>
        </p:txBody>
      </p:sp>
      <p:sp>
        <p:nvSpPr>
          <p:cNvPr id="12" name="base_chip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base_let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base_txt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km/h sur autoroute, 80 km/h sur route prioritaire, 100 km/h sur route à deux chaussées séparées par un terre-plein central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541324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541324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km/h sur autoroute, 80 km/h sur route prioritaire, 100 km/h sur route à deux chaussées séparées par un terre-plein central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agglomération, la distance minimale à respecter entre 2 véhicules poids lourds roulant à la même vitesse est de :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mètres</a:t>
            </a:r>
            <a:endParaRPr lang="en-US" sz="1700" dirty="0"/>
          </a:p>
        </p:txBody>
      </p:sp>
      <p:sp>
        <p:nvSpPr>
          <p:cNvPr id="6" name="base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base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base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mètres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mètres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mètres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340156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34015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mètres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Sauf dérogation, les restrictions de circulation applicables en fin de semaine ou à l'occasion de jours fériés concernent les véhicules dont le poids total autorisé en charge (PTAC) excède :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 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</a:t>
            </a:r>
            <a:endParaRPr lang="en-US" sz="1700" dirty="0"/>
          </a:p>
        </p:txBody>
      </p:sp>
      <p:sp>
        <p:nvSpPr>
          <p:cNvPr id="9" name="base_chip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base_let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base_txt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440740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440740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cas d'un transport international sans rupture de charge, comprenant un parcours maritime, la convention marchandises par route (CMR) s'applique en général :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parcours routier</a:t>
            </a:r>
            <a:endParaRPr lang="en-US" sz="1700" dirty="0"/>
          </a:p>
        </p:txBody>
      </p:sp>
      <p:sp>
        <p:nvSpPr>
          <p:cNvPr id="6" name="base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base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base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totalité du parcours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parcours maritime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pays de destination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340156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34015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totalité du parcours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véhicule de 19 tonnes de poids maximum autorisé (PMA), un transporteur français doit effectuer un transport public de marchandises de Bruxelles (Belgique) à Tanger (Maroc). Le transport routier doit être couvert par :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868680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572768" y="23957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autorisation de transit espagnole et une autorisation bilatérale marocaine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3401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une autorisation bilatérale marocaine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459943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68680" y="4599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72768" y="44074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autorisation CEMT (Conférence européenne des ministres des transports)</a:t>
            </a:r>
            <a:endParaRPr lang="en-US" sz="1700" dirty="0"/>
          </a:p>
        </p:txBody>
      </p:sp>
      <p:sp>
        <p:nvSpPr>
          <p:cNvPr id="12" name="base_chip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base_let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4" name="base_txt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copie conforme de la licence communautaire et une autorisation bilatérale marocaine</a:t>
            </a:r>
            <a:endParaRPr lang="en-US" sz="1700" dirty="0"/>
          </a:p>
        </p:txBody>
      </p:sp>
      <p:sp>
        <p:nvSpPr>
          <p:cNvPr id="15" name="rev_row"/>
          <p:cNvSpPr/>
          <p:nvPr/>
        </p:nvSpPr>
        <p:spPr>
          <a:xfrm>
            <a:off x="640080" y="5413248"/>
            <a:ext cx="10927080" cy="914400"/>
          </a:xfrm>
          <a:prstGeom prst="roundRect">
            <a:avLst>
              <a:gd name="adj" fmla="val 11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rev_chk"/>
          <p:cNvSpPr/>
          <p:nvPr/>
        </p:nvSpPr>
        <p:spPr>
          <a:xfrm>
            <a:off x="182880" y="541324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500" dirty="0"/>
          </a:p>
        </p:txBody>
      </p:sp>
      <p:sp>
        <p:nvSpPr>
          <p:cNvPr id="17" name="rev_chip"/>
          <p:cNvSpPr/>
          <p:nvPr/>
        </p:nvSpPr>
        <p:spPr>
          <a:xfrm>
            <a:off x="868680" y="5605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rev_let"/>
          <p:cNvSpPr/>
          <p:nvPr/>
        </p:nvSpPr>
        <p:spPr>
          <a:xfrm>
            <a:off x="868680" y="5605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19" name="rev_txt"/>
          <p:cNvSpPr/>
          <p:nvPr/>
        </p:nvSpPr>
        <p:spPr>
          <a:xfrm>
            <a:off x="1572768" y="54132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copie conforme de la licence communautaire et une autorisation bilatérale marocaine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indefinite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2106</Words>
  <Application>Microsoft Office PowerPoint</Application>
  <PresentationFormat>Grand écran</PresentationFormat>
  <Paragraphs>314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Zhair Mansouri</cp:lastModifiedBy>
  <cp:revision>2</cp:revision>
  <dcterms:created xsi:type="dcterms:W3CDTF">2026-08-24T19:58:59Z</dcterms:created>
  <dcterms:modified xsi:type="dcterms:W3CDTF">2026-09-30T16:24:17Z</dcterms:modified>
</cp:coreProperties>
</file>